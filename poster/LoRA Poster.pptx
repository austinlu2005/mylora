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04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918400" cy="21945600"/>
  <p:notesSz cx="37441188" cy="51206400"/>
  <p:embeddedFontLst>
    <p:embeddedFont>
      <p:font typeface="Quattrocento" panose="02020502030000000404" pitchFamily="18" charset="0"/>
      <p:regular r:id="rId5"/>
      <p:bold r:id="rId6"/>
    </p:embeddedFont>
    <p:embeddedFont>
      <p:font typeface="Quattrocento Sans" panose="020B0502050000020003" pitchFamily="34" charset="0"/>
      <p:regular r:id="rId7"/>
      <p:bold r:id="rId8"/>
      <p:italic r:id="rId9"/>
      <p:boldItalic r:id="rId10"/>
    </p:embeddedFont>
  </p:embeddedFontLst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68" userDrawn="1">
          <p15:clr>
            <a:srgbClr val="A4A3A4"/>
          </p15:clr>
        </p15:guide>
        <p15:guide id="2" pos="1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0100"/>
    <a:srgbClr val="992D32"/>
    <a:srgbClr val="6B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 autoAdjust="0"/>
  </p:normalViewPr>
  <p:slideViewPr>
    <p:cSldViewPr>
      <p:cViewPr>
        <p:scale>
          <a:sx n="54" d="100"/>
          <a:sy n="54" d="100"/>
        </p:scale>
        <p:origin x="624" y="144"/>
      </p:cViewPr>
      <p:guideLst>
        <p:guide orient="horz" pos="6368"/>
        <p:guide pos="19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gs" Target="tags/tag1.xml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6224250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7031" tIns="268519" rIns="537031" bIns="26851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537368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21216938" y="0"/>
            <a:ext cx="16224250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7031" tIns="268519" rIns="537031" bIns="26851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537368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53722588"/>
            <a:ext cx="16224250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7031" tIns="268519" rIns="537031" bIns="268519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537368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21216938" y="53722588"/>
            <a:ext cx="16224250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7031" tIns="268519" rIns="537031" bIns="268519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5373688">
              <a:defRPr sz="7100" smtClean="0"/>
            </a:lvl1pPr>
          </a:lstStyle>
          <a:p>
            <a:pPr>
              <a:defRPr/>
            </a:pPr>
            <a:fld id="{C3821831-2B9E-4755-9FF2-D0B0BEF817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68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6224250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231" tIns="269615" rIns="539231" bIns="26961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539273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21207412" y="0"/>
            <a:ext cx="16225838" cy="28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231" tIns="269615" rIns="539231" bIns="26961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539273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16225" y="4241800"/>
            <a:ext cx="31808738" cy="21205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44913" y="26860500"/>
            <a:ext cx="29952950" cy="254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231" tIns="269615" rIns="539231" bIns="26961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53713062"/>
            <a:ext cx="16224250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231" tIns="269615" rIns="539231" bIns="269615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5392738">
              <a:defRPr sz="71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21207412" y="53713062"/>
            <a:ext cx="16225838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231" tIns="269615" rIns="539231" bIns="269615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5392738">
              <a:defRPr sz="7100" smtClean="0"/>
            </a:lvl1pPr>
          </a:lstStyle>
          <a:p>
            <a:pPr>
              <a:defRPr/>
            </a:pPr>
            <a:fld id="{A7A3E3C6-57BD-4827-A686-7B170B46C0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35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Arial"/>
        <a:ea typeface="+mn-ea"/>
        <a:cs typeface="+mn-cs"/>
      </a:defRPr>
    </a:lvl1pPr>
    <a:lvl2pPr marL="326532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Arial"/>
        <a:ea typeface="+mn-ea"/>
        <a:cs typeface="+mn-cs"/>
      </a:defRPr>
    </a:lvl2pPr>
    <a:lvl3pPr marL="653064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Arial"/>
        <a:ea typeface="+mn-ea"/>
        <a:cs typeface="+mn-cs"/>
      </a:defRPr>
    </a:lvl3pPr>
    <a:lvl4pPr marL="979597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Arial"/>
        <a:ea typeface="+mn-ea"/>
        <a:cs typeface="+mn-cs"/>
      </a:defRPr>
    </a:lvl4pPr>
    <a:lvl5pPr marL="1306129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Arial"/>
        <a:ea typeface="+mn-ea"/>
        <a:cs typeface="+mn-cs"/>
      </a:defRPr>
    </a:lvl5pPr>
    <a:lvl6pPr marL="1632661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9193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726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2258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/>
            </a:defPPr>
            <a:lvl1pPr defTabSz="5392738" eaLnBrk="0" hangingPunct="0">
              <a:defRPr sz="3000">
                <a:solidFill>
                  <a:schemeClr val="tx1"/>
                </a:solidFill>
                <a:latin typeface="Arial"/>
              </a:defRPr>
            </a:lvl1pPr>
            <a:lvl2pPr marL="742950" indent="-285750" defTabSz="5392738" eaLnBrk="0" hangingPunct="0">
              <a:defRPr sz="3000">
                <a:solidFill>
                  <a:schemeClr val="tx1"/>
                </a:solidFill>
                <a:latin typeface="Arial"/>
              </a:defRPr>
            </a:lvl2pPr>
            <a:lvl3pPr marL="1143000" indent="-228600" defTabSz="5392738" eaLnBrk="0" hangingPunct="0">
              <a:defRPr sz="3000">
                <a:solidFill>
                  <a:schemeClr val="tx1"/>
                </a:solidFill>
                <a:latin typeface="Arial"/>
              </a:defRPr>
            </a:lvl3pPr>
            <a:lvl4pPr marL="1600200" indent="-228600" defTabSz="5392738" eaLnBrk="0" hangingPunct="0">
              <a:defRPr sz="3000">
                <a:solidFill>
                  <a:schemeClr val="tx1"/>
                </a:solidFill>
                <a:latin typeface="Arial"/>
              </a:defRPr>
            </a:lvl4pPr>
            <a:lvl5pPr marL="2057400" indent="-228600" defTabSz="5392738" eaLnBrk="0" hangingPunct="0">
              <a:defRPr sz="3000">
                <a:solidFill>
                  <a:schemeClr val="tx1"/>
                </a:solidFill>
                <a:latin typeface="Arial"/>
              </a:defRPr>
            </a:lvl5pPr>
            <a:lvl6pPr marL="2514600" indent="-228600" defTabSz="5392738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/>
              </a:defRPr>
            </a:lvl6pPr>
            <a:lvl7pPr marL="2971800" indent="-228600" defTabSz="5392738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/>
              </a:defRPr>
            </a:lvl7pPr>
            <a:lvl8pPr marL="3429000" indent="-228600" defTabSz="5392738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/>
              </a:defRPr>
            </a:lvl8pPr>
            <a:lvl9pPr marL="3886200" indent="-228600" defTabSz="5392738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/>
              </a:defRPr>
            </a:lvl9pPr>
          </a:lstStyle>
          <a:p>
            <a:pPr eaLnBrk="1" hangingPunct="1"/>
            <a:fld id="{8013D4E7-0005-4E28-B809-46F629ED953E}" type="slidenum">
              <a:rPr lang="en-US" sz="7100"/>
              <a:pPr eaLnBrk="1" hangingPunct="1"/>
              <a:t>1</a:t>
            </a:fld>
            <a:endParaRPr lang="en-US" sz="71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16225" y="4241800"/>
            <a:ext cx="31808738" cy="21205825"/>
          </a:xfrm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/>
            </a:defPPr>
          </a:lstStyle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064D7D-464A-4708-9759-403F89E210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4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A6E67-DA7B-4FCC-A18A-FC7C8A034C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1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B7E099-5C0A-4709-9BBB-71DECD41AB3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5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3D45C2-6D5F-448B-95B1-CD0C538780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12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58424-6508-4C08-B0AB-A12183DAE99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0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8326B-3987-4EE9-9239-5FDA69C812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24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F3B20C-577A-4608-AF62-749557E31E3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48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CA0EE2-436D-4402-9038-3DA719D297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6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C1286E-2D26-43B2-8CD4-A2F0A623D1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7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84F10-113F-4F09-A76B-2176B34E08D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9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9F5895-A9FE-429D-AE19-E169F67F1C2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87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EAD58424-6508-4C08-B0AB-A12183DAE99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9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png"/><Relationship Id="rId3" Type="http://schemas.openxmlformats.org/officeDocument/2006/relationships/hyperlink" Target="https://doi.org/10.48550/arxiv.2106.09685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6.png"/><Relationship Id="rId5" Type="http://schemas.openxmlformats.org/officeDocument/2006/relationships/hyperlink" Target="https://www.google.com/search?q=https://doi.org/10.18653/v1/w18-5446&amp;authuser=6" TargetMode="Externa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hyperlink" Target="https://www.google.com/search?q=https://doi.org/10.18653/v1/w17-5525&amp;authuser=6" TargetMode="Externa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13000">
              <a:schemeClr val="accent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6"/>
          <p:cNvSpPr>
            <a:spLocks noChangeArrowheads="1"/>
          </p:cNvSpPr>
          <p:nvPr/>
        </p:nvSpPr>
        <p:spPr bwMode="auto">
          <a:xfrm>
            <a:off x="457200" y="195026"/>
            <a:ext cx="32004000" cy="3386374"/>
          </a:xfrm>
          <a:prstGeom prst="round2DiagRect">
            <a:avLst/>
          </a:prstGeom>
          <a:solidFill>
            <a:srgbClr val="B41E1E"/>
          </a:solidFill>
          <a:ln w="9525">
            <a:noFill/>
            <a:miter lim="800000"/>
          </a:ln>
        </p:spPr>
        <p:txBody>
          <a:bodyPr lIns="73147" tIns="36574" rIns="73147" bIns="36574" anchor="ctr"/>
          <a:lstStyle>
            <a:defPPr>
              <a:defRPr kern="1200"/>
            </a:defPPr>
          </a:lstStyle>
          <a:p>
            <a:pPr algn="ctr" defTabSz="2508375">
              <a:defRPr/>
            </a:pPr>
            <a:endParaRPr lang="en-US" sz="2933" b="1" dirty="0"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8" name="Title 11">
            <a:extLst>
              <a:ext uri="{FF2B5EF4-FFF2-40B4-BE49-F238E27FC236}">
                <a16:creationId xmlns:a16="http://schemas.microsoft.com/office/drawing/2014/main" id="{D3A698E4-5105-47D7-8AAB-C4BA53E6D379}"/>
              </a:ext>
            </a:extLst>
          </p:cNvPr>
          <p:cNvSpPr txBox="1"/>
          <p:nvPr/>
        </p:nvSpPr>
        <p:spPr>
          <a:xfrm>
            <a:off x="2743200" y="836334"/>
            <a:ext cx="27432000" cy="1831290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700" b="1" dirty="0" err="1">
                <a:solidFill>
                  <a:schemeClr val="bg1"/>
                </a:solidFill>
                <a:latin typeface="Quattrocento" panose="02020802030000000404" pitchFamily="18" charset="0"/>
              </a:rPr>
              <a:t>LoRA</a:t>
            </a:r>
            <a:r>
              <a:rPr lang="en-US" sz="5700" b="1" dirty="0">
                <a:solidFill>
                  <a:schemeClr val="bg1"/>
                </a:solidFill>
                <a:latin typeface="Quattrocento" panose="02020802030000000404" pitchFamily="18" charset="0"/>
              </a:rPr>
              <a:t>: Low Rank Adaptation of Large Language Models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9FEE118B-FBC6-45D8-93CE-3A87E15AD5C3}"/>
              </a:ext>
            </a:extLst>
          </p:cNvPr>
          <p:cNvSpPr txBox="1"/>
          <p:nvPr/>
        </p:nvSpPr>
        <p:spPr>
          <a:xfrm>
            <a:off x="2743200" y="1850329"/>
            <a:ext cx="27432000" cy="2022092"/>
          </a:xfrm>
          <a:prstGeom prst="rect">
            <a:avLst/>
          </a:prstGeom>
        </p:spPr>
        <p:txBody>
          <a:bodyPr lIns="85344" tIns="42672" rIns="85344" bIns="42672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700" dirty="0">
                <a:solidFill>
                  <a:schemeClr val="bg1"/>
                </a:solidFill>
                <a:latin typeface="Quattrocento Sans" panose="020B0502050000020003" pitchFamily="34" charset="0"/>
              </a:rPr>
              <a:t>Re-implemented by: Austin Lu (al2622) | Jason Chen (yc2786)</a:t>
            </a:r>
          </a:p>
          <a:p>
            <a:pPr algn="ctr"/>
            <a:r>
              <a:rPr lang="en-US" sz="3700" dirty="0">
                <a:solidFill>
                  <a:schemeClr val="bg1"/>
                </a:solidFill>
                <a:latin typeface="Quattrocento Sans" panose="020B0502050000020003" pitchFamily="34" charset="0"/>
              </a:rPr>
              <a:t>Original Authors: Hu, E. J., Shen, Y., Wallis, P., Allen-Zhu, Z., Li, Y., Wang, S., Wang, L., &amp; Chen, W. (2021).</a:t>
            </a:r>
          </a:p>
          <a:p>
            <a:pPr algn="ctr"/>
            <a:endParaRPr lang="en-US" sz="3700" dirty="0">
              <a:solidFill>
                <a:schemeClr val="bg1"/>
              </a:solidFill>
              <a:latin typeface="Quattrocento Sans" panose="020B0502050000020003" pitchFamily="34" charset="0"/>
            </a:endParaRP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6E6FAECA-7B53-459F-9726-99A6AE0B0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872420"/>
            <a:ext cx="8090228" cy="7530375"/>
          </a:xfrm>
          <a:prstGeom prst="round2DiagRect">
            <a:avLst>
              <a:gd name="adj1" fmla="val 6827"/>
              <a:gd name="adj2" fmla="val 0"/>
            </a:avLst>
          </a:prstGeom>
          <a:solidFill>
            <a:srgbClr val="FDDEA5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endParaRPr lang="en-US" sz="2400" b="1">
              <a:noFill/>
              <a:latin typeface="Quattrocento" panose="02020802030000000404" pitchFamily="18" charset="0"/>
            </a:endParaRPr>
          </a:p>
        </p:txBody>
      </p:sp>
      <p:sp>
        <p:nvSpPr>
          <p:cNvPr id="46" name="Rectangle 10">
            <a:extLst>
              <a:ext uri="{FF2B5EF4-FFF2-40B4-BE49-F238E27FC236}">
                <a16:creationId xmlns:a16="http://schemas.microsoft.com/office/drawing/2014/main" id="{092E1FA2-37D8-400C-9B5C-644E01207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510" y="11544360"/>
            <a:ext cx="20554969" cy="582201"/>
          </a:xfrm>
          <a:prstGeom prst="round2DiagRect">
            <a:avLst>
              <a:gd name="adj1" fmla="val 30177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Quattrocento" panose="02020802030000000404" pitchFamily="18" charset="0"/>
              </a:rPr>
              <a:t>Results</a:t>
            </a:r>
          </a:p>
        </p:txBody>
      </p:sp>
      <p:sp>
        <p:nvSpPr>
          <p:cNvPr id="48" name="Rectangle 10">
            <a:extLst>
              <a:ext uri="{FF2B5EF4-FFF2-40B4-BE49-F238E27FC236}">
                <a16:creationId xmlns:a16="http://schemas.microsoft.com/office/drawing/2014/main" id="{E3FEBAB5-D47E-42BA-A84C-C1EA43E9E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7172" y="14840202"/>
            <a:ext cx="10834028" cy="582201"/>
          </a:xfrm>
          <a:prstGeom prst="round2DiagRect">
            <a:avLst>
              <a:gd name="adj1" fmla="val 30178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 dirty="0">
                <a:solidFill>
                  <a:schemeClr val="bg1"/>
                </a:solidFill>
                <a:latin typeface="Quattrocento" panose="02020802030000000404" pitchFamily="18" charset="0"/>
              </a:rPr>
              <a:t>Conclusion</a:t>
            </a:r>
          </a:p>
        </p:txBody>
      </p:sp>
      <p:sp>
        <p:nvSpPr>
          <p:cNvPr id="52" name="Rectangle 10">
            <a:extLst>
              <a:ext uri="{FF2B5EF4-FFF2-40B4-BE49-F238E27FC236}">
                <a16:creationId xmlns:a16="http://schemas.microsoft.com/office/drawing/2014/main" id="{48ED2435-580E-419E-B71D-5D8F033EB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0753" y="19071469"/>
            <a:ext cx="10961887" cy="582201"/>
          </a:xfrm>
          <a:prstGeom prst="round2DiagRect">
            <a:avLst>
              <a:gd name="adj1" fmla="val 33555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chemeClr val="bg1"/>
                </a:solidFill>
                <a:latin typeface="Quattrocento" panose="02020802030000000404" pitchFamily="18" charset="0"/>
              </a:rPr>
              <a:t>Acknowledgements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683D493E-8A89-4457-BD64-BF0D722F3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31" y="4132155"/>
            <a:ext cx="6857254" cy="58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3200" b="1" dirty="0">
                <a:latin typeface="Quattrocento" panose="02020802030000000404" pitchFamily="18" charset="0"/>
                <a:cs typeface="Arial" pitchFamily="34" charset="0"/>
              </a:rPr>
              <a:t>Introduction / Abstract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7CC5E4-5857-4AD9-BC53-ECDA642EB874}"/>
              </a:ext>
            </a:extLst>
          </p:cNvPr>
          <p:cNvSpPr txBox="1"/>
          <p:nvPr/>
        </p:nvSpPr>
        <p:spPr>
          <a:xfrm>
            <a:off x="645510" y="5095168"/>
            <a:ext cx="7660290" cy="657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>
              <a:spcBef>
                <a:spcPts val="125"/>
              </a:spcBef>
              <a:spcAft>
                <a:spcPts val="125"/>
              </a:spcAft>
            </a:pPr>
            <a:r>
              <a:rPr lang="en-US" sz="2400" b="1" dirty="0">
                <a:latin typeface="Quattrocento Sans" panose="020B0502050000020003" pitchFamily="34" charset="0"/>
              </a:rPr>
              <a:t>Problem</a:t>
            </a:r>
            <a:r>
              <a:rPr lang="en-US" sz="2400" dirty="0">
                <a:latin typeface="Quattrocento Sans" panose="020B0502050000020003" pitchFamily="34" charset="0"/>
              </a:rPr>
              <a:t>: Full fine-tuning of large models is expensive in parameters, memory, and storage, making task-specific adaptation costly and inconvenient to deploy at scale.</a:t>
            </a:r>
          </a:p>
          <a:p>
            <a:pPr>
              <a:spcBef>
                <a:spcPts val="125"/>
              </a:spcBef>
              <a:spcAft>
                <a:spcPts val="125"/>
              </a:spcAft>
            </a:pPr>
            <a:endParaRPr lang="en-US" sz="2400" dirty="0">
              <a:latin typeface="Quattrocento Sans" panose="020B0502050000020003" pitchFamily="34" charset="0"/>
            </a:endParaRPr>
          </a:p>
          <a:p>
            <a:pPr>
              <a:spcBef>
                <a:spcPts val="125"/>
              </a:spcBef>
              <a:spcAft>
                <a:spcPts val="125"/>
              </a:spcAft>
            </a:pPr>
            <a:r>
              <a:rPr lang="en-US" sz="2400" b="1" dirty="0">
                <a:latin typeface="Quattrocento Sans" panose="020B0502050000020003" pitchFamily="34" charset="0"/>
              </a:rPr>
              <a:t>Goal</a:t>
            </a:r>
            <a:r>
              <a:rPr lang="en-US" sz="2400" dirty="0">
                <a:latin typeface="Quattrocento Sans" panose="020B0502050000020003" pitchFamily="34" charset="0"/>
              </a:rPr>
              <a:t>: Reproduce the main claim of </a:t>
            </a:r>
            <a:r>
              <a:rPr lang="en-US" sz="2400" dirty="0" err="1">
                <a:latin typeface="Quattrocento Sans" panose="020B0502050000020003" pitchFamily="34" charset="0"/>
              </a:rPr>
              <a:t>LoRA</a:t>
            </a:r>
            <a:r>
              <a:rPr lang="en-US" sz="2400" dirty="0">
                <a:latin typeface="Quattrocento Sans" panose="020B0502050000020003" pitchFamily="34" charset="0"/>
              </a:rPr>
              <a:t> (Hu et al., 2021): low-rank adaptation achieves performance comparable to full fine-tuning while using far fewer trainable parameters.</a:t>
            </a:r>
          </a:p>
          <a:p>
            <a:pPr>
              <a:spcBef>
                <a:spcPts val="125"/>
              </a:spcBef>
              <a:spcAft>
                <a:spcPts val="125"/>
              </a:spcAft>
            </a:pPr>
            <a:endParaRPr lang="en-US" sz="2400" dirty="0">
              <a:latin typeface="Quattrocento Sans" panose="020B0502050000020003" pitchFamily="34" charset="0"/>
            </a:endParaRPr>
          </a:p>
          <a:p>
            <a:pPr>
              <a:spcBef>
                <a:spcPts val="125"/>
              </a:spcBef>
              <a:spcAft>
                <a:spcPts val="125"/>
              </a:spcAft>
            </a:pPr>
            <a:r>
              <a:rPr lang="en-US" sz="2400" b="1" dirty="0">
                <a:latin typeface="Quattrocento Sans" panose="020B0502050000020003" pitchFamily="34" charset="0"/>
              </a:rPr>
              <a:t>What We Reproduce/Investigate:</a:t>
            </a:r>
          </a:p>
          <a:p>
            <a:pPr marL="342900" indent="-342900">
              <a:spcBef>
                <a:spcPts val="125"/>
              </a:spcBef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Quattrocento Sans" panose="020B0502050000020003" pitchFamily="34" charset="0"/>
              </a:rPr>
              <a:t>Parameter-efficiency gains (trainable parameters, memory savings) </a:t>
            </a:r>
          </a:p>
          <a:p>
            <a:pPr marL="342900" indent="-342900">
              <a:spcBef>
                <a:spcPts val="125"/>
              </a:spcBef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Quattrocento Sans" panose="020B0502050000020003" pitchFamily="34" charset="0"/>
              </a:rPr>
              <a:t>Downstream task performance (</a:t>
            </a:r>
            <a:r>
              <a:rPr lang="en-US" sz="2400" dirty="0" err="1">
                <a:latin typeface="Quattrocento Sans" panose="020B0502050000020003" pitchFamily="34" charset="0"/>
              </a:rPr>
              <a:t>RoBERTa</a:t>
            </a:r>
            <a:r>
              <a:rPr lang="en-US" sz="2400" dirty="0">
                <a:latin typeface="Quattrocento Sans" panose="020B0502050000020003" pitchFamily="34" charset="0"/>
              </a:rPr>
              <a:t> on GLUE and GPT2-Medium on )</a:t>
            </a:r>
          </a:p>
          <a:p>
            <a:pPr marL="342900" indent="-342900">
              <a:spcBef>
                <a:spcPts val="125"/>
              </a:spcBef>
              <a:spcAft>
                <a:spcPts val="125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Quattrocento Sans" panose="020B0502050000020003" pitchFamily="34" charset="0"/>
              </a:rPr>
              <a:t>Extension to vision-language models (CLIP) with image-text retrieval</a:t>
            </a:r>
          </a:p>
          <a:p>
            <a:pPr>
              <a:spcBef>
                <a:spcPts val="125"/>
              </a:spcBef>
              <a:spcAft>
                <a:spcPts val="125"/>
              </a:spcAft>
            </a:pPr>
            <a:endParaRPr lang="en-US" sz="2400" dirty="0">
              <a:latin typeface="Quattrocento Sans" panose="020B0502050000020003" pitchFamily="34" charset="0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02AB78DF-FFEE-448D-966C-EA5988806A81}"/>
              </a:ext>
            </a:extLst>
          </p:cNvPr>
          <p:cNvSpPr txBox="1"/>
          <p:nvPr/>
        </p:nvSpPr>
        <p:spPr>
          <a:xfrm>
            <a:off x="21572677" y="15642004"/>
            <a:ext cx="108762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Massive Parameter Efficiency:</a:t>
            </a:r>
            <a:r>
              <a:rPr lang="en-US" sz="2400" dirty="0"/>
              <a:t> We successfully reproduced the core claim of the original paper, achieving a ~99.7% reduction in trainable parameters across all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Uncompromised Performance: </a:t>
            </a:r>
            <a:r>
              <a:rPr lang="en-US" sz="2400" dirty="0"/>
              <a:t>Low-rank adaptation achieved comparable evaluation metrics to full fine-tuning across NLU (</a:t>
            </a:r>
            <a:r>
              <a:rPr lang="en-US" sz="2400" dirty="0" err="1"/>
              <a:t>RoBERTa</a:t>
            </a:r>
            <a:r>
              <a:rPr lang="en-US" sz="2400" dirty="0"/>
              <a:t> on GLUE) and NLG (GPT-2 on E2E)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Quattrocento Sans" panose="020B050205000002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Successful Multimodal Extension: </a:t>
            </a:r>
            <a:r>
              <a:rPr lang="en-US" sz="2400" dirty="0"/>
              <a:t>Beyond traditional text models, we demonstrated the versatility of </a:t>
            </a:r>
            <a:r>
              <a:rPr lang="en-US" sz="2400" dirty="0" err="1"/>
              <a:t>LoRA</a:t>
            </a:r>
            <a:r>
              <a:rPr lang="en-US" sz="2400" dirty="0"/>
              <a:t> by successfully injecting adapters into CLIP's attention layers</a:t>
            </a:r>
            <a:endParaRPr lang="en-US" sz="2400" b="1" dirty="0">
              <a:latin typeface="Quattrocento Sans" panose="020B050205000002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9259EE9-8D55-4A34-BCDD-8F3F221271A7}"/>
              </a:ext>
            </a:extLst>
          </p:cNvPr>
          <p:cNvSpPr txBox="1"/>
          <p:nvPr/>
        </p:nvSpPr>
        <p:spPr>
          <a:xfrm>
            <a:off x="21627172" y="19831955"/>
            <a:ext cx="10834028" cy="1867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>
              <a:spcBef>
                <a:spcPts val="150"/>
              </a:spcBef>
            </a:pPr>
            <a:r>
              <a:rPr lang="en-US" sz="1600" dirty="0"/>
              <a:t>Hu, E. J., Shen, Y., Wallis, P., Allen-Zhu, Z., Li, Y., Wang, S., Wang, L., &amp; Chen, W. (2021). </a:t>
            </a:r>
            <a:r>
              <a:rPr lang="en-US" sz="1600" dirty="0" err="1"/>
              <a:t>LoRA</a:t>
            </a:r>
            <a:r>
              <a:rPr lang="en-US" sz="1600" dirty="0"/>
              <a:t>: Low-Rank Adaptation of Large Language Models. </a:t>
            </a:r>
            <a:r>
              <a:rPr lang="en-US" sz="1600" i="1" dirty="0" err="1"/>
              <a:t>arXiv</a:t>
            </a:r>
            <a:r>
              <a:rPr lang="en-US" sz="1600" dirty="0"/>
              <a:t>. </a:t>
            </a:r>
            <a:r>
              <a:rPr lang="en-US" sz="1600" dirty="0">
                <a:hlinkClick r:id="rId3"/>
              </a:rPr>
              <a:t>https://doi.org/10.48550/arxiv.2106.09685</a:t>
            </a:r>
            <a:r>
              <a:rPr lang="en-US" sz="1600" dirty="0"/>
              <a:t> </a:t>
            </a:r>
          </a:p>
          <a:p>
            <a:pPr>
              <a:spcBef>
                <a:spcPts val="150"/>
              </a:spcBef>
            </a:pPr>
            <a:r>
              <a:rPr lang="en-US" sz="1600" dirty="0"/>
              <a:t>Novikova, J., Dušek, O., &amp; Rieser, V. (2017). The E2E Dataset: New Challenges For End-to-End Generation. </a:t>
            </a:r>
            <a:r>
              <a:rPr lang="en-US" sz="1600" i="1" dirty="0"/>
              <a:t>Proceedings of the 18th Annual </a:t>
            </a:r>
            <a:r>
              <a:rPr lang="en-US" sz="1600" i="1" dirty="0" err="1"/>
              <a:t>SIGdial</a:t>
            </a:r>
            <a:r>
              <a:rPr lang="en-US" sz="1600" i="1" dirty="0"/>
              <a:t> Meeting on Discourse and Dialogue</a:t>
            </a:r>
            <a:r>
              <a:rPr lang="en-US" sz="1600" dirty="0"/>
              <a:t>, 201-206. </a:t>
            </a:r>
            <a:r>
              <a:rPr lang="en-US" sz="1600" dirty="0">
                <a:hlinkClick r:id="rId4"/>
              </a:rPr>
              <a:t>https://doi.org/10.18653/v1/w17-5525</a:t>
            </a:r>
            <a:endParaRPr lang="en-US" sz="1600" dirty="0"/>
          </a:p>
          <a:p>
            <a:pPr>
              <a:spcBef>
                <a:spcPts val="150"/>
              </a:spcBef>
            </a:pPr>
            <a:r>
              <a:rPr lang="en-US" sz="1600" dirty="0"/>
              <a:t>Wang, A., Singh, A., Michael, J., Hill, F., Levy, O., &amp; Bowman, S. (2018). GLUE: A Multi-Task Benchmark and Analysis Platform for Natural Language Understanding. </a:t>
            </a:r>
            <a:r>
              <a:rPr lang="en-US" sz="1600" i="1" dirty="0"/>
              <a:t>Proceedings of the 2018 EMNLP Workshop </a:t>
            </a:r>
            <a:r>
              <a:rPr lang="en-US" sz="1600" i="1" dirty="0" err="1"/>
              <a:t>BlackboxNLP</a:t>
            </a:r>
            <a:r>
              <a:rPr lang="en-US" sz="1600" i="1" dirty="0"/>
              <a:t>: Analyzing and Interpreting Neural Networks for NLP</a:t>
            </a:r>
            <a:r>
              <a:rPr lang="en-US" sz="1600" dirty="0"/>
              <a:t>. </a:t>
            </a:r>
            <a:r>
              <a:rPr lang="en-US" sz="1600" dirty="0">
                <a:hlinkClick r:id="rId5"/>
              </a:rPr>
              <a:t>https://doi.org/10.18653/v1/w18-5446</a:t>
            </a:r>
            <a:endParaRPr lang="en-US" sz="1600" dirty="0"/>
          </a:p>
        </p:txBody>
      </p:sp>
      <p:pic>
        <p:nvPicPr>
          <p:cNvPr id="1028" name="Picture 4" descr="Cornell University - Wikipedia">
            <a:extLst>
              <a:ext uri="{FF2B5EF4-FFF2-40B4-BE49-F238E27FC236}">
                <a16:creationId xmlns:a16="http://schemas.microsoft.com/office/drawing/2014/main" id="{A957F835-3394-878C-D7FC-771BF4233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39238"/>
            <a:ext cx="2622181" cy="262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0">
            <a:extLst>
              <a:ext uri="{FF2B5EF4-FFF2-40B4-BE49-F238E27FC236}">
                <a16:creationId xmlns:a16="http://schemas.microsoft.com/office/drawing/2014/main" id="{D76AC701-2A84-EBA4-1BF6-CB02D2023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12217" y="2749781"/>
            <a:ext cx="2157238" cy="444566"/>
          </a:xfrm>
          <a:prstGeom prst="round2DiagRect">
            <a:avLst>
              <a:gd name="adj1" fmla="val 30177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 dirty="0" err="1">
                <a:solidFill>
                  <a:schemeClr val="bg1"/>
                </a:solidFill>
                <a:latin typeface="Quattrocento" panose="02020802030000000404" pitchFamily="18" charset="0"/>
              </a:rPr>
              <a:t>Github</a:t>
            </a:r>
            <a:r>
              <a:rPr lang="en-US" sz="2400" b="1" dirty="0">
                <a:solidFill>
                  <a:schemeClr val="bg1"/>
                </a:solidFill>
                <a:latin typeface="Quattrocento" panose="02020802030000000404" pitchFamily="18" charset="0"/>
              </a:rPr>
              <a:t> Repo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57A5D7-AB39-7F40-F4A3-612A480991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986" y="657880"/>
            <a:ext cx="1917700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808D6C-F9B7-ACAE-0D5B-C65D529041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4832021"/>
            <a:ext cx="12039600" cy="62502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6891640-45F4-BD42-D8DF-57AC4DF90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3884006"/>
            <a:ext cx="12039600" cy="734751"/>
          </a:xfrm>
          <a:prstGeom prst="round2DiagRect">
            <a:avLst>
              <a:gd name="adj1" fmla="val 30178"/>
              <a:gd name="adj2" fmla="val 0"/>
            </a:avLst>
          </a:prstGeom>
          <a:solidFill>
            <a:srgbClr val="B41E1E"/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 dirty="0">
                <a:solidFill>
                  <a:schemeClr val="bg1"/>
                </a:solidFill>
                <a:latin typeface="Quattrocento" panose="02020802030000000404" pitchFamily="18" charset="0"/>
              </a:rPr>
              <a:t>Methodology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F1F81F-5B94-C584-E590-E170C7A479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6594" y="3801002"/>
            <a:ext cx="10499418" cy="38589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E63F09-EFD9-18D0-B8AD-C229A9301A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6595" y="10834325"/>
            <a:ext cx="10499418" cy="38272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9C4C50-ED08-DA0B-C823-B38664C439E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5644" y="7730239"/>
            <a:ext cx="10480368" cy="303379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50D1369-F67E-F64B-86F8-44E899530E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37" y="15131303"/>
            <a:ext cx="13844639" cy="650610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1FB3168-FE6A-4F06-CF11-A14C76853D8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1192" y="19470874"/>
            <a:ext cx="6384112" cy="2133009"/>
          </a:xfrm>
          <a:prstGeom prst="rect">
            <a:avLst/>
          </a:prstGeom>
        </p:spPr>
      </p:pic>
      <p:pic>
        <p:nvPicPr>
          <p:cNvPr id="1030" name="Picture 1029">
            <a:extLst>
              <a:ext uri="{FF2B5EF4-FFF2-40B4-BE49-F238E27FC236}">
                <a16:creationId xmlns:a16="http://schemas.microsoft.com/office/drawing/2014/main" id="{2472F5CB-50D5-ADFA-8D3C-578CD54EAE7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1192" y="12230234"/>
            <a:ext cx="6384112" cy="7080561"/>
          </a:xfrm>
          <a:prstGeom prst="rect">
            <a:avLst/>
          </a:prstGeom>
        </p:spPr>
      </p:pic>
      <p:pic>
        <p:nvPicPr>
          <p:cNvPr id="1032" name="Picture 1031">
            <a:extLst>
              <a:ext uri="{FF2B5EF4-FFF2-40B4-BE49-F238E27FC236}">
                <a16:creationId xmlns:a16="http://schemas.microsoft.com/office/drawing/2014/main" id="{B7131022-4B2B-F7A5-A3EE-59DBAF8BF81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39"/>
          <a:stretch>
            <a:fillRect/>
          </a:stretch>
        </p:blipFill>
        <p:spPr>
          <a:xfrm>
            <a:off x="799836" y="12300753"/>
            <a:ext cx="7338663" cy="2675954"/>
          </a:xfrm>
          <a:prstGeom prst="rect">
            <a:avLst/>
          </a:prstGeom>
        </p:spPr>
      </p:pic>
      <p:pic>
        <p:nvPicPr>
          <p:cNvPr id="1034" name="Picture 1033">
            <a:extLst>
              <a:ext uri="{FF2B5EF4-FFF2-40B4-BE49-F238E27FC236}">
                <a16:creationId xmlns:a16="http://schemas.microsoft.com/office/drawing/2014/main" id="{88F5C26A-F949-EE04-3DFC-88D23F98C2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7945"/>
          <a:stretch>
            <a:fillRect/>
          </a:stretch>
        </p:blipFill>
        <p:spPr>
          <a:xfrm>
            <a:off x="7527099" y="12329625"/>
            <a:ext cx="7117377" cy="2635283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30B3B89C-62C8-7335-6401-99C9969A2CC3}"/>
              </a:ext>
            </a:extLst>
          </p:cNvPr>
          <p:cNvSpPr txBox="1"/>
          <p:nvPr/>
        </p:nvSpPr>
        <p:spPr>
          <a:xfrm>
            <a:off x="6485046" y="15849600"/>
            <a:ext cx="405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~125 M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A7BEB482-E052-A6CD-02CD-50286C00F75A}"/>
              </a:ext>
            </a:extLst>
          </p:cNvPr>
          <p:cNvSpPr txBox="1"/>
          <p:nvPr/>
        </p:nvSpPr>
        <p:spPr>
          <a:xfrm>
            <a:off x="10575976" y="15818001"/>
            <a:ext cx="405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~125 M (100%)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E5E07B44-FAA0-9E55-8BEE-12027CE8919E}"/>
              </a:ext>
            </a:extLst>
          </p:cNvPr>
          <p:cNvSpPr txBox="1"/>
          <p:nvPr/>
        </p:nvSpPr>
        <p:spPr>
          <a:xfrm>
            <a:off x="6485047" y="16559648"/>
            <a:ext cx="405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~125.3 M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B990EF1F-6B93-051A-5E15-C4A4EA600801}"/>
              </a:ext>
            </a:extLst>
          </p:cNvPr>
          <p:cNvSpPr txBox="1"/>
          <p:nvPr/>
        </p:nvSpPr>
        <p:spPr>
          <a:xfrm>
            <a:off x="10575978" y="16528048"/>
            <a:ext cx="405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294,912</a:t>
            </a:r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(~0.24%)</a:t>
            </a:r>
            <a:endParaRPr lang="en-US" sz="24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F32E8DE8-C7F3-900B-0F38-7EA3716CCAED}"/>
              </a:ext>
            </a:extLst>
          </p:cNvPr>
          <p:cNvSpPr txBox="1"/>
          <p:nvPr/>
        </p:nvSpPr>
        <p:spPr>
          <a:xfrm>
            <a:off x="6485046" y="17269695"/>
            <a:ext cx="405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~355 M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E4EC505A-D192-13F8-517B-C08018C7F44B}"/>
              </a:ext>
            </a:extLst>
          </p:cNvPr>
          <p:cNvSpPr txBox="1"/>
          <p:nvPr/>
        </p:nvSpPr>
        <p:spPr>
          <a:xfrm>
            <a:off x="6485046" y="17981449"/>
            <a:ext cx="405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~355.8 M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41F540B-D307-28F9-5740-113D23448AA8}"/>
              </a:ext>
            </a:extLst>
          </p:cNvPr>
          <p:cNvSpPr txBox="1"/>
          <p:nvPr/>
        </p:nvSpPr>
        <p:spPr>
          <a:xfrm>
            <a:off x="10542433" y="17238096"/>
            <a:ext cx="405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~355 M (100%)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40FACBA8-2365-347A-84C3-887858506E37}"/>
              </a:ext>
            </a:extLst>
          </p:cNvPr>
          <p:cNvSpPr txBox="1"/>
          <p:nvPr/>
        </p:nvSpPr>
        <p:spPr>
          <a:xfrm>
            <a:off x="10542435" y="17948143"/>
            <a:ext cx="405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786,432</a:t>
            </a:r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(~0.22%)</a:t>
            </a:r>
            <a:endParaRPr lang="en-US" sz="24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72B50027-00A2-4C3D-9E60-FBD2F98BB203}"/>
              </a:ext>
            </a:extLst>
          </p:cNvPr>
          <p:cNvSpPr txBox="1"/>
          <p:nvPr/>
        </p:nvSpPr>
        <p:spPr>
          <a:xfrm>
            <a:off x="6477000" y="18748087"/>
            <a:ext cx="405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~151 M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DF7A02A7-CB37-7F80-2287-830354B3C580}"/>
              </a:ext>
            </a:extLst>
          </p:cNvPr>
          <p:cNvSpPr txBox="1"/>
          <p:nvPr/>
        </p:nvSpPr>
        <p:spPr>
          <a:xfrm>
            <a:off x="6477000" y="19459841"/>
            <a:ext cx="405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~151.5 M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241467DC-0F0E-1327-F4E4-D40111D99015}"/>
              </a:ext>
            </a:extLst>
          </p:cNvPr>
          <p:cNvSpPr txBox="1"/>
          <p:nvPr/>
        </p:nvSpPr>
        <p:spPr>
          <a:xfrm>
            <a:off x="10534387" y="18716488"/>
            <a:ext cx="405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~151 M (100%)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E273604A-6ACB-9FDA-A23A-2CED9CCAB336}"/>
              </a:ext>
            </a:extLst>
          </p:cNvPr>
          <p:cNvSpPr txBox="1"/>
          <p:nvPr/>
        </p:nvSpPr>
        <p:spPr>
          <a:xfrm>
            <a:off x="10534389" y="19426535"/>
            <a:ext cx="405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algn="ctr"/>
            <a:r>
              <a:rPr lang="en-US" sz="24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491,520</a:t>
            </a:r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(~0.33%)</a:t>
            </a:r>
            <a:endParaRPr lang="en-US" sz="24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48" name="Picture 1047">
            <a:extLst>
              <a:ext uri="{FF2B5EF4-FFF2-40B4-BE49-F238E27FC236}">
                <a16:creationId xmlns:a16="http://schemas.microsoft.com/office/drawing/2014/main" id="{BFE06905-8E2D-C6DD-17C2-85304418E10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0277957"/>
            <a:ext cx="9144001" cy="1124808"/>
          </a:xfrm>
          <a:prstGeom prst="rect">
            <a:avLst/>
          </a:prstGeom>
        </p:spPr>
      </p:pic>
      <p:sp>
        <p:nvSpPr>
          <p:cNvPr id="1051" name="TextBox 1050">
            <a:extLst>
              <a:ext uri="{FF2B5EF4-FFF2-40B4-BE49-F238E27FC236}">
                <a16:creationId xmlns:a16="http://schemas.microsoft.com/office/drawing/2014/main" id="{3780DA3C-C0E4-9605-9A65-B90AF7A403BA}"/>
              </a:ext>
            </a:extLst>
          </p:cNvPr>
          <p:cNvSpPr txBox="1"/>
          <p:nvPr/>
        </p:nvSpPr>
        <p:spPr>
          <a:xfrm>
            <a:off x="3180584" y="20397917"/>
            <a:ext cx="86106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3200" b="1" dirty="0">
                <a:latin typeface="Quattrocento Sans" panose="020B0502050000020003" pitchFamily="34" charset="0"/>
                <a:cs typeface="Arial" panose="020B0604020202020204" pitchFamily="34" charset="0"/>
              </a:rPr>
              <a:t>LoRA reduces trainable parameters by </a:t>
            </a:r>
            <a:r>
              <a:rPr lang="en-TW" sz="3200" b="1" dirty="0">
                <a:solidFill>
                  <a:srgbClr val="930100"/>
                </a:solidFill>
                <a:latin typeface="Quattrocento Sans" panose="020B0502050000020003" pitchFamily="34" charset="0"/>
                <a:cs typeface="Arial" panose="020B0604020202020204" pitchFamily="34" charset="0"/>
              </a:rPr>
              <a:t>~99.7%+ </a:t>
            </a:r>
            <a:r>
              <a:rPr lang="en-TW" sz="3200" b="1" dirty="0">
                <a:latin typeface="Quattrocento Sans" panose="020B0502050000020003" pitchFamily="34" charset="0"/>
                <a:cs typeface="Arial" panose="020B0604020202020204" pitchFamily="34" charset="0"/>
              </a:rPr>
              <a:t>across both NLP and VLM settings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melancholymedallion|08-2022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3485</TotalTime>
  <Words>485</Words>
  <Application>Microsoft Macintosh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Quattrocento</vt:lpstr>
      <vt:lpstr>Arial</vt:lpstr>
      <vt:lpstr>Aptos Display</vt:lpstr>
      <vt:lpstr>Aptos</vt:lpstr>
      <vt:lpstr>Calibri</vt:lpstr>
      <vt:lpstr>Quattrocento Sans</vt:lpstr>
      <vt:lpstr>Office Theme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Template For Scientific Poster Presentation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Austin Lu</cp:lastModifiedBy>
  <cp:revision>163</cp:revision>
  <cp:lastPrinted>2006-08-04T02:22:52Z</cp:lastPrinted>
  <dcterms:modified xsi:type="dcterms:W3CDTF">2026-04-29T06:44:53Z</dcterms:modified>
  <cp:category>science research poster</cp:category>
</cp:coreProperties>
</file>